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2" r:id="rId5"/>
    <p:sldId id="321" r:id="rId6"/>
    <p:sldId id="323" r:id="rId7"/>
    <p:sldId id="324" r:id="rId8"/>
    <p:sldId id="3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9840242" cy="5253089"/>
          </a:xfrm>
        </p:spPr>
        <p:txBody>
          <a:bodyPr>
            <a:normAutofit/>
          </a:bodyPr>
          <a:lstStyle/>
          <a:p>
            <a:r>
              <a:rPr lang="en-US" sz="3200" dirty="0"/>
              <a:t>Name: VISHWA M</a:t>
            </a:r>
            <a:br>
              <a:rPr lang="en-US" sz="3200" dirty="0"/>
            </a:br>
            <a:r>
              <a:rPr lang="en-US" sz="3200" dirty="0"/>
              <a:t>T-ID: T9944</a:t>
            </a:r>
            <a:br>
              <a:rPr lang="en-US" sz="3200" dirty="0"/>
            </a:br>
            <a:r>
              <a:rPr lang="en-US" sz="3200" dirty="0"/>
              <a:t>COLLAGE: VELLORE INSTITUTE OF TECHNOLOGY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583" y="0"/>
            <a:ext cx="9430132" cy="870857"/>
          </a:xfrm>
        </p:spPr>
        <p:txBody>
          <a:bodyPr>
            <a:normAutofit/>
          </a:bodyPr>
          <a:lstStyle/>
          <a:p>
            <a:r>
              <a:rPr lang="en-IN" sz="2800" b="1" dirty="0"/>
              <a:t>RAG-Based  Telecom Radio Access Network Assistant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9714" y="737115"/>
            <a:ext cx="10972799" cy="5968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1. Problem Statement</a:t>
            </a:r>
          </a:p>
          <a:p>
            <a:r>
              <a:rPr lang="en-IN" dirty="0"/>
              <a:t>Modern 4G/5G/O-RAN networks generate huge volumes of </a:t>
            </a:r>
            <a:r>
              <a:rPr lang="en-IN" b="1" dirty="0"/>
              <a:t>KPIs, alarms, logs and technical specifications</a:t>
            </a:r>
            <a:r>
              <a:rPr lang="en-IN" dirty="0"/>
              <a:t>. Network engineers still depend heavily on manual SME analysis for troubleshooting, causing delays and making real-time network management difficult.</a:t>
            </a:r>
          </a:p>
          <a:p>
            <a:pPr marL="0" indent="0">
              <a:buNone/>
            </a:pPr>
            <a:r>
              <a:rPr lang="en-IN" b="1" dirty="0"/>
              <a:t>2.Our Solution:</a:t>
            </a:r>
            <a:br>
              <a:rPr lang="en-IN" dirty="0"/>
            </a:br>
            <a:r>
              <a:rPr lang="en-IN" dirty="0"/>
              <a:t>    	Build an AI-powered </a:t>
            </a:r>
            <a:r>
              <a:rPr lang="en-IN" b="1" dirty="0"/>
              <a:t>Telecom RAN Assistant</a:t>
            </a:r>
            <a:r>
              <a:rPr lang="en-IN" dirty="0"/>
              <a:t> that combines </a:t>
            </a:r>
            <a:r>
              <a:rPr lang="en-IN" b="1" dirty="0"/>
              <a:t>RAG + Dynamic RAN Simulation    + AI-based Analytics</a:t>
            </a:r>
            <a:r>
              <a:rPr lang="en-IN" dirty="0"/>
              <a:t> to automatically understand live network conditions, identify problems, find    their root causes and recommend optimization actions.</a:t>
            </a:r>
          </a:p>
          <a:p>
            <a:pPr marL="0" indent="0">
              <a:buNone/>
            </a:pPr>
            <a:r>
              <a:rPr lang="en-IN" b="1" dirty="0"/>
              <a:t>3. Objectives</a:t>
            </a:r>
          </a:p>
          <a:p>
            <a:pPr marL="0" indent="0">
              <a:buNone/>
            </a:pPr>
            <a:r>
              <a:rPr lang="en-IN" b="1" dirty="0"/>
              <a:t>1. Intelligent Telecom RAG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Answer 3GPP/O-RAN/RAN queries using domain-specific knowledge with source-backed responses. </a:t>
            </a:r>
          </a:p>
          <a:p>
            <a:pPr marL="0" indent="0">
              <a:buNone/>
            </a:pPr>
            <a:r>
              <a:rPr lang="en-IN" b="1" dirty="0"/>
              <a:t>2. Automated Network Intelligence</a:t>
            </a:r>
            <a:endParaRPr lang="en-IN" dirty="0"/>
          </a:p>
          <a:p>
            <a:pPr lvl="0"/>
            <a:r>
              <a:rPr lang="en-IN" dirty="0"/>
              <a:t>Continuously monitor simulated RAN KPIs and automatically detect anomalies and perform Root Cause Analysis. </a:t>
            </a:r>
          </a:p>
          <a:p>
            <a:pPr marL="0" indent="0">
              <a:buNone/>
            </a:pPr>
            <a:r>
              <a:rPr lang="en-IN" b="1" dirty="0"/>
              <a:t>3. Optimization &amp; Decision Support</a:t>
            </a:r>
            <a:endParaRPr lang="en-IN" dirty="0"/>
          </a:p>
          <a:p>
            <a:pPr lvl="0"/>
            <a:r>
              <a:rPr lang="en-IN" dirty="0"/>
              <a:t>Recommend corrective actions such as load balancing, power adjustment and resource optimization.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F7FA1-41AD-311B-93E0-468814637BC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91402" y="713794"/>
            <a:ext cx="10788462" cy="60720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4. Datasets / Data Sources</a:t>
            </a:r>
          </a:p>
          <a:p>
            <a:pPr lvl="0"/>
            <a:r>
              <a:rPr lang="en-IN" b="1" dirty="0" err="1"/>
              <a:t>TeleQnA</a:t>
            </a:r>
            <a:r>
              <a:rPr lang="en-IN" dirty="0"/>
              <a:t> – Telecom Q&amp;A, 3GPP and RAN concepts for domain-specific RAG and evaluation. </a:t>
            </a:r>
          </a:p>
          <a:p>
            <a:pPr lvl="0"/>
            <a:r>
              <a:rPr lang="en-IN" b="1" dirty="0" err="1"/>
              <a:t>ORANBench</a:t>
            </a:r>
            <a:r>
              <a:rPr lang="en-IN" dirty="0"/>
              <a:t> – O-RAN architecture, RIC, RU, DU, CU, and interface-related knowledge. </a:t>
            </a:r>
          </a:p>
          <a:p>
            <a:pPr lvl="0"/>
            <a:r>
              <a:rPr lang="en-IN" b="1" dirty="0"/>
              <a:t>3GPP Specifications</a:t>
            </a:r>
            <a:r>
              <a:rPr lang="en-IN" dirty="0"/>
              <a:t> – Telecom standards, network procedures, and technical references for authoritative responses. </a:t>
            </a:r>
          </a:p>
          <a:p>
            <a:pPr lvl="0"/>
            <a:r>
              <a:rPr lang="en-IN" b="1" dirty="0" err="1"/>
              <a:t>TeleLogs</a:t>
            </a:r>
            <a:r>
              <a:rPr lang="en-IN" dirty="0"/>
              <a:t> – Telecom logs, incidents, and Root Cause Analysis (RCA) scenarios. </a:t>
            </a:r>
          </a:p>
          <a:p>
            <a:pPr lvl="0"/>
            <a:r>
              <a:rPr lang="en-IN" b="1" dirty="0"/>
              <a:t>Simu5G / Synthetic RAN Data</a:t>
            </a:r>
            <a:r>
              <a:rPr lang="en-IN" dirty="0"/>
              <a:t> – Dynamic KPIs, traffic patterns, failures, and network events for live simulation. </a:t>
            </a:r>
          </a:p>
          <a:p>
            <a:pPr marL="0" indent="0">
              <a:buNone/>
            </a:pPr>
            <a:r>
              <a:rPr lang="en-IN" b="1" dirty="0"/>
              <a:t>5. Tech Stack</a:t>
            </a:r>
          </a:p>
          <a:p>
            <a:r>
              <a:rPr lang="en-IN" b="1" dirty="0"/>
              <a:t>Python • </a:t>
            </a:r>
            <a:r>
              <a:rPr lang="en-IN" b="1" dirty="0" err="1"/>
              <a:t>LangChain</a:t>
            </a:r>
            <a:r>
              <a:rPr lang="en-IN" b="1" dirty="0"/>
              <a:t> / </a:t>
            </a:r>
            <a:r>
              <a:rPr lang="en-IN" b="1" dirty="0" err="1"/>
              <a:t>LlamaIndex</a:t>
            </a:r>
            <a:r>
              <a:rPr lang="en-IN" b="1" dirty="0"/>
              <a:t> • </a:t>
            </a:r>
            <a:r>
              <a:rPr lang="en-IN" b="1" dirty="0" err="1"/>
              <a:t>Ollama</a:t>
            </a:r>
            <a:r>
              <a:rPr lang="en-IN" b="1" dirty="0"/>
              <a:t> </a:t>
            </a:r>
            <a:r>
              <a:rPr lang="en-IN" b="1"/>
              <a:t>(Llama) </a:t>
            </a:r>
            <a:r>
              <a:rPr lang="en-IN" b="1" dirty="0"/>
              <a:t>• BGE Embeddings • FAISS / </a:t>
            </a:r>
            <a:r>
              <a:rPr lang="en-IN" b="1" dirty="0" err="1"/>
              <a:t>Qdrant</a:t>
            </a:r>
            <a:r>
              <a:rPr lang="en-IN" b="1" dirty="0"/>
              <a:t> • Simu5G • </a:t>
            </a:r>
            <a:r>
              <a:rPr lang="en-IN" b="1" dirty="0" err="1"/>
              <a:t>FastAPI</a:t>
            </a:r>
            <a:r>
              <a:rPr lang="en-IN" b="1" dirty="0"/>
              <a:t> • </a:t>
            </a:r>
            <a:r>
              <a:rPr lang="en-IN" b="1" dirty="0" err="1"/>
              <a:t>Streamlit</a:t>
            </a:r>
            <a:r>
              <a:rPr lang="en-IN" b="1" dirty="0"/>
              <a:t> • </a:t>
            </a:r>
            <a:r>
              <a:rPr lang="en-IN" b="1" dirty="0" err="1"/>
              <a:t>Plotly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6. Expected Outcomes</a:t>
            </a:r>
          </a:p>
          <a:p>
            <a:r>
              <a:rPr lang="en-IN" b="1" dirty="0"/>
              <a:t>Live RAN Simulation → Anomaly Detection → Root Cause Analysis → RAG-Based Evidence → Network Optimization</a:t>
            </a:r>
            <a:endParaRPr lang="en-IN" dirty="0"/>
          </a:p>
          <a:p>
            <a:pPr lvl="0"/>
            <a:r>
              <a:rPr lang="en-IN" dirty="0"/>
              <a:t>Near real-time network monitoring and KPI tracking </a:t>
            </a:r>
          </a:p>
          <a:p>
            <a:pPr lvl="0"/>
            <a:r>
              <a:rPr lang="en-IN" dirty="0"/>
              <a:t>Telecom-specific, source-grounded responses </a:t>
            </a:r>
          </a:p>
          <a:p>
            <a:pPr lvl="0"/>
            <a:r>
              <a:rPr lang="en-IN" dirty="0"/>
              <a:t>Automated anomaly detection and root cause identification </a:t>
            </a:r>
          </a:p>
          <a:p>
            <a:pPr lvl="0"/>
            <a:r>
              <a:rPr lang="en-IN" dirty="0"/>
              <a:t>AI-driven network optimization recommendations </a:t>
            </a:r>
          </a:p>
          <a:p>
            <a:pPr lvl="0"/>
            <a:r>
              <a:rPr lang="en-IN" dirty="0"/>
              <a:t>Explainable, scalable, and future-ready Telecom RAN Assistant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92C15-3DC6-A635-5683-9C9553AD40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1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C43C-FE3A-3C7E-2D89-B71BE760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653" y="221382"/>
            <a:ext cx="10212404" cy="587140"/>
          </a:xfrm>
        </p:spPr>
        <p:txBody>
          <a:bodyPr>
            <a:normAutofit fontScale="90000"/>
          </a:bodyPr>
          <a:lstStyle/>
          <a:p>
            <a:r>
              <a:rPr lang="en-IN" sz="2700" b="1" dirty="0"/>
              <a:t>Multi-Agent AI System for PPE Compliance and Safety Surveillance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30F49-9CFC-0724-D6CF-3C2E7A8F82D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10653" y="471638"/>
            <a:ext cx="10337532" cy="5672569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 </a:t>
            </a:r>
            <a:r>
              <a:rPr lang="en-IN" b="1" dirty="0"/>
              <a:t>1.</a:t>
            </a:r>
            <a:r>
              <a:rPr lang="en-IN" dirty="0"/>
              <a:t> </a:t>
            </a:r>
            <a:r>
              <a:rPr lang="en-IN" b="1" dirty="0"/>
              <a:t>Problem Statement</a:t>
            </a:r>
          </a:p>
          <a:p>
            <a:pPr fontAlgn="t">
              <a:buNone/>
            </a:pPr>
            <a:r>
              <a:rPr lang="en-IN" dirty="0"/>
              <a:t>   Construction and industrial sites experience thousands of workplace accidents due to non-compliance with Personal Protective Equipment (PPE) such as helmets, safety vests, gloves, goggles, boots, and safety harnesses. Manual safety monitoring is time-consuming, prone to human error, and unable to provide continuous surveillance. The proposed system uses AI-powered computer vision and agentic monitoring to automatically detect PPE compliance, identify violations, and generate safety alerts and reports in real time.</a:t>
            </a:r>
          </a:p>
          <a:p>
            <a:pPr fontAlgn="t">
              <a:buNone/>
            </a:pPr>
            <a:r>
              <a:rPr lang="en-IN" dirty="0"/>
              <a:t>2.</a:t>
            </a:r>
            <a:r>
              <a:rPr lang="en-IN" b="1" dirty="0"/>
              <a:t> Objectives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dirty="0"/>
              <a:t>Develop an AI vision model to detect and classify PPE items from images and recorded surveillance videos.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dirty="0"/>
              <a:t>Automatically identify PPE violations and generate alerts for missing or improperly worn safety equipment.</a:t>
            </a:r>
          </a:p>
          <a:p>
            <a:pPr marL="342900" lvl="0" indent="-342900" fontAlgn="t">
              <a:buFont typeface="+mj-lt"/>
              <a:buAutoNum type="arabicPeriod"/>
            </a:pPr>
            <a:r>
              <a:rPr lang="en-IN" dirty="0"/>
              <a:t>Generate compliance reports and safety analytics to improve workplace safety and regulatory adherence.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C8716-39E6-DAF0-76BA-3969309A99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98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D29F-343B-80D6-D091-14335F8C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104040" flipH="1">
            <a:off x="12859461" y="5593498"/>
            <a:ext cx="45719" cy="4371128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317F-3499-47B5-19DB-10CD9F965E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72152" y="134755"/>
            <a:ext cx="10231653" cy="6009452"/>
          </a:xfrm>
        </p:spPr>
        <p:txBody>
          <a:bodyPr>
            <a:normAutofit fontScale="85000" lnSpcReduction="20000"/>
          </a:bodyPr>
          <a:lstStyle/>
          <a:p>
            <a:pPr fontAlgn="t">
              <a:buNone/>
            </a:pPr>
            <a:r>
              <a:rPr lang="en-IN" b="1" dirty="0"/>
              <a:t>3.Datasets</a:t>
            </a:r>
          </a:p>
          <a:p>
            <a:pPr marL="0" indent="0" fontAlgn="t">
              <a:buNone/>
            </a:pPr>
            <a:r>
              <a:rPr lang="en-IN" b="1" dirty="0"/>
              <a:t>1.SH17 Dataset</a:t>
            </a:r>
            <a:r>
              <a:rPr lang="en-IN" dirty="0"/>
              <a:t> - 8,099 images,75,994 annotations,17 PPE classes</a:t>
            </a:r>
          </a:p>
          <a:p>
            <a:pPr fontAlgn="t"/>
            <a:r>
              <a:rPr lang="en-IN" dirty="0"/>
              <a:t>Helmet, gloves, safety glasses, masks, safety clothing, shoes, etc.</a:t>
            </a:r>
          </a:p>
          <a:p>
            <a:pPr marL="0" indent="0" fontAlgn="t">
              <a:buNone/>
            </a:pPr>
            <a:r>
              <a:rPr lang="en-IN" b="1" dirty="0"/>
              <a:t>2.Construction-PPE Dataset</a:t>
            </a:r>
            <a:r>
              <a:rPr lang="en-IN" dirty="0"/>
              <a:t> - 1,416 images,11 PPE classes</a:t>
            </a:r>
          </a:p>
          <a:p>
            <a:pPr fontAlgn="t"/>
            <a:r>
              <a:rPr lang="en-IN" dirty="0"/>
              <a:t>Helmet, gloves, vest, boots, goggles</a:t>
            </a:r>
          </a:p>
          <a:p>
            <a:pPr fontAlgn="t"/>
            <a:r>
              <a:rPr lang="en-IN" dirty="0"/>
              <a:t>Includes missing PPE classes (No Helmet, No Gloves, No Boots, No Goggles)</a:t>
            </a:r>
          </a:p>
          <a:p>
            <a:pPr fontAlgn="t">
              <a:buNone/>
            </a:pPr>
            <a:r>
              <a:rPr lang="en-IN" b="1" dirty="0"/>
              <a:t>4.Tech Stack</a:t>
            </a:r>
          </a:p>
          <a:p>
            <a:pPr fontAlgn="t">
              <a:buNone/>
            </a:pPr>
            <a:r>
              <a:rPr lang="en-IN" b="1" dirty="0"/>
              <a:t>1. Agents - </a:t>
            </a:r>
            <a:r>
              <a:rPr lang="en-IN" dirty="0"/>
              <a:t>Vision </a:t>
            </a:r>
            <a:r>
              <a:rPr lang="en-IN" dirty="0" err="1"/>
              <a:t>Agent,Compliance</a:t>
            </a:r>
            <a:r>
              <a:rPr lang="en-IN" dirty="0"/>
              <a:t> </a:t>
            </a:r>
            <a:r>
              <a:rPr lang="en-IN" dirty="0" err="1"/>
              <a:t>Agent,Alert</a:t>
            </a:r>
            <a:r>
              <a:rPr lang="en-IN" dirty="0"/>
              <a:t> </a:t>
            </a:r>
            <a:r>
              <a:rPr lang="en-IN" dirty="0" err="1"/>
              <a:t>Agent,Reporting</a:t>
            </a:r>
            <a:r>
              <a:rPr lang="en-IN" dirty="0"/>
              <a:t> Agent</a:t>
            </a:r>
          </a:p>
          <a:p>
            <a:pPr fontAlgn="t">
              <a:buNone/>
            </a:pPr>
            <a:r>
              <a:rPr lang="en-IN" b="1" dirty="0"/>
              <a:t>2. Technologies -  </a:t>
            </a:r>
            <a:r>
              <a:rPr lang="en-IN" dirty="0"/>
              <a:t>YOLOv11, OpenCV, </a:t>
            </a:r>
            <a:r>
              <a:rPr lang="en-IN" dirty="0" err="1"/>
              <a:t>PyTorch</a:t>
            </a:r>
            <a:r>
              <a:rPr lang="en-IN" dirty="0"/>
              <a:t>, </a:t>
            </a:r>
            <a:r>
              <a:rPr lang="en-IN" dirty="0" err="1"/>
              <a:t>FastAPI,SQLite</a:t>
            </a:r>
            <a:r>
              <a:rPr lang="en-IN" dirty="0"/>
              <a:t>/</a:t>
            </a:r>
            <a:r>
              <a:rPr lang="en-IN" dirty="0" err="1"/>
              <a:t>PostgreSQL,Streamlit</a:t>
            </a:r>
            <a:r>
              <a:rPr lang="en-IN" dirty="0"/>
              <a:t>/Grafana Dashboard</a:t>
            </a:r>
          </a:p>
          <a:p>
            <a:pPr fontAlgn="t">
              <a:buNone/>
            </a:pPr>
            <a:r>
              <a:rPr lang="en-IN" dirty="0" err="1"/>
              <a:t>ByteTrack</a:t>
            </a:r>
            <a:r>
              <a:rPr lang="en-IN" dirty="0"/>
              <a:t> (Worker Tracking),Phi-3 Mini (Optional LLM Agent)</a:t>
            </a:r>
          </a:p>
          <a:p>
            <a:pPr fontAlgn="t">
              <a:buNone/>
            </a:pPr>
            <a:r>
              <a:rPr lang="en-IN" b="1" dirty="0"/>
              <a:t>5.Expected Outcome</a:t>
            </a:r>
          </a:p>
          <a:p>
            <a:pPr fontAlgn="t"/>
            <a:r>
              <a:rPr lang="en-IN" dirty="0"/>
              <a:t>Automatic identification of missing PPE</a:t>
            </a:r>
          </a:p>
          <a:p>
            <a:pPr fontAlgn="t"/>
            <a:r>
              <a:rPr lang="en-IN" dirty="0"/>
              <a:t>Real-time safety violation alerts</a:t>
            </a:r>
          </a:p>
          <a:p>
            <a:pPr fontAlgn="t"/>
            <a:r>
              <a:rPr lang="en-IN" dirty="0"/>
              <a:t>Compliance monitoring dashboard</a:t>
            </a:r>
          </a:p>
          <a:p>
            <a:pPr fontAlgn="t"/>
            <a:r>
              <a:rPr lang="en-IN" dirty="0"/>
              <a:t>Safety analytics and compliance reports</a:t>
            </a:r>
          </a:p>
          <a:p>
            <a:pPr fontAlgn="t"/>
            <a:r>
              <a:rPr lang="en-IN" dirty="0"/>
              <a:t>Reduced manual inspection effort and improved workplace safety</a:t>
            </a:r>
          </a:p>
          <a:p>
            <a:pPr fontAlgn="t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1A420-7475-3C17-3417-89EC69AF79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92634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{23FFCFD0-8929-4046-8D9C-7F140F57ED0F}TF3977e381-cba5-49b1-ba43-b5d865517af907ebbda9_win32-372d4d6ae720</Template>
  <TotalTime>90</TotalTime>
  <Words>652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Tisa Offc Serif Pro</vt:lpstr>
      <vt:lpstr>Univers Light</vt:lpstr>
      <vt:lpstr>Custom</vt:lpstr>
      <vt:lpstr>Name: VISHWA M T-ID: T9944 COLLAGE: VELLORE INSTITUTE OF TECHNOLOGY     </vt:lpstr>
      <vt:lpstr>RAG-Based  Telecom Radio Access Network Assistant</vt:lpstr>
      <vt:lpstr>PowerPoint Presentation</vt:lpstr>
      <vt:lpstr>Multi-Agent AI System for PPE Compliance and Safety Surveillance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M</dc:creator>
  <cp:lastModifiedBy>Vishwa M</cp:lastModifiedBy>
  <cp:revision>2</cp:revision>
  <dcterms:created xsi:type="dcterms:W3CDTF">2026-08-28T01:30:54Z</dcterms:created>
  <dcterms:modified xsi:type="dcterms:W3CDTF">2026-08-28T03:01:04Z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
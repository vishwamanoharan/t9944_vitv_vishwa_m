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501" r:id="rId6"/>
    <p:sldId id="2147470502" r:id="rId7"/>
    <p:sldId id="2147470503" r:id="rId8"/>
    <p:sldId id="2147470504" r:id="rId9"/>
    <p:sldId id="2147470505" r:id="rId10"/>
    <p:sldId id="2147470494" r:id="rId11"/>
    <p:sldId id="2147470497" r:id="rId12"/>
    <p:sldId id="2147470498" r:id="rId13"/>
    <p:sldId id="2147470500" r:id="rId14"/>
    <p:sldId id="214747049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25B9ED"/>
    <a:srgbClr val="47BDAE"/>
    <a:srgbClr val="30BBDA"/>
    <a:srgbClr val="47BDAF"/>
    <a:srgbClr val="696969"/>
    <a:srgbClr val="1C4D98"/>
    <a:srgbClr val="8BC431"/>
    <a:srgbClr val="97B6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A Multi-Agent Vision Framework for Automated PPE Compliance Monitoring</a:t>
            </a: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[Student Name] – [Register No.]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805816"/>
              </p:ext>
            </p:extLst>
          </p:nvPr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067735-1BDD-89A0-6180-DB7BB6EE6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36" y="6046000"/>
            <a:ext cx="1435174" cy="65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+mn-lt"/>
              </a:rPr>
              <a:t>Manual PPE monitoring is slow, hard to scale and error-prone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+mn-lt"/>
              </a:rPr>
              <a:t>Review I: detection, compliance, simulation and event bus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+mn-lt"/>
              </a:rPr>
              <a:t>Review II: event-driven agents, memory, RAG and supervisor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+mn-lt"/>
              </a:rPr>
              <a:t>The system moves from detecting violations to deciding actions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Multi-Agent PPE Compliance Monitoring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+mn-lt"/>
              </a:rPr>
              <a:t>Convert all agents into event subscribers and publishers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+mn-lt"/>
              </a:rPr>
              <a:t>Store system-wide intelligence in shared state and history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+mn-lt"/>
              </a:rPr>
              <a:t>Build an OSHA-based RAG knowledge base for the agents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+mn-lt"/>
              </a:rPr>
              <a:t>Build an autonomous Supervisor Agent with a decision engine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Multi-Agent PPE Compliance Monitoring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Subscriber and publisher agents (Phase 4)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Compliance: WORKER_STATE_UPDATED → VIOLATION_DETECTED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Risk: VIOLATION_DETECTED → RISK_ASSESSED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RCA: RISK_ASSESSED → RCA_COMPLETED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Recommendation: RCA_COMPLETED → RECOMMENDATION_GENERATED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Alert: RECOMMENDATION_GENERATED → ALERT_GENERATED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3 - Event-Driven Agents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Multi-Agent PPE Compliance Monitoring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Central repository (Phase 5)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Stores workers, violations, risk, RCA, recommendations, alerts and decisions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Worker snapshot: PPE status, risk, violations, alert, decision history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Memory Agent records events and maintains worker history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Pattern example: Worker-001 repeats NO_HELMET in cycles 1, 3 and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4 - Shared State &amp; Memory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Multi-Agent PPE Compliance Monitoring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Knowledge sources and pipeline (Phase 6)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Source: OSHA PPE standards, construction and industrial safety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Folders: PPE_standards, emergency_procedures, safety_rules, workplace_policies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PDF loader → extraction → chunking → embedding → vector store → retrieval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5 - RAG Knowledge Base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Multi-Agent PPE Compliance Monitoring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Embeddings and vector store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Embedding model: BAAI/bge-small-en-v1.5 (384 dimensions)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Local vector store holds 492 chunks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Query: action when a worker repeatedly ignores helmet rules?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Retrieved: OSHA PPE guidelines, safety recommendations, emergency actions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5 - RAG Retrieval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Multi-Agent PPE Compliance Monitoring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Autonomous safety decisions (Phase 7)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Inputs: current risk and violations, worker history, RAG knowledge, shared state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Example: Worker-001 with NO_HELMET, 7 past violations, risk HIGH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6 - Supervisor Agent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Multi-Agent PPE Compliance Monitoring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Decision logic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Uses risk score, violation frequency, behavior history and safety knowledge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Decisions: NO_ACTION, MONITOR, SEND_WARNING, ESCALATE, STOP_WORK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Example output: SEND_WARNING (source: OSHA3151.pdf)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6 - Decision Engine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Multi-Agent PPE Compliance Monitoring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Event-driven publish/subscribe multi-agent architecture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Agents communicate only through the Event Bus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Each event carries type, worker, source, priority, time, payload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Shared state and Memory Agent give historical context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Supervisor combines risk, frequency, history and RAG knowledge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 / Modeling Plan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Multi-Agent PPE Compliance Monitoring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Visual data: images / CCTV frames for YOLO (6 PPE classes)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Simulated events: NORMAL or one of five violation types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Knowledge data: OSHA PDFs → text → chunking → 492 chunks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Embeddings: BAAI/bge-small-en-v1.5, 384 dimensions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EDA: violations per worker, risk split LOW / MEDIUM / HIGH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Multi-Agent PPE Compliance Monitoring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+mn-lt"/>
              </a:rPr>
              <a:t>Detection: </a:t>
            </a:r>
            <a:r>
              <a:rPr lang="en-US" sz="2400" b="0" dirty="0">
                <a:solidFill>
                  <a:schemeClr val="tx1"/>
                </a:solidFill>
                <a:latin typeface="+mn-lt"/>
              </a:rPr>
              <a:t>YOLO with OpenCV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+mn-lt"/>
              </a:rPr>
              <a:t>Agents: </a:t>
            </a:r>
            <a:r>
              <a:rPr lang="en-US" sz="2400" b="0" dirty="0">
                <a:solidFill>
                  <a:schemeClr val="tx1"/>
                </a:solidFill>
                <a:latin typeface="+mn-lt"/>
              </a:rPr>
              <a:t>event-driven multi-agent system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+mn-lt"/>
              </a:rPr>
              <a:t>Retrieval: </a:t>
            </a:r>
            <a:r>
              <a:rPr lang="en-US" sz="2400" b="0" dirty="0">
                <a:solidFill>
                  <a:schemeClr val="tx1"/>
                </a:solidFill>
                <a:latin typeface="+mn-lt"/>
              </a:rPr>
              <a:t>BGE embeddings with a local vector database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+mn-lt"/>
              </a:rPr>
              <a:t>Decisions: </a:t>
            </a:r>
            <a:r>
              <a:rPr lang="en-US" sz="2400" b="0" dirty="0">
                <a:solidFill>
                  <a:schemeClr val="tx1"/>
                </a:solidFill>
                <a:latin typeface="+mn-lt"/>
              </a:rPr>
              <a:t>NO_ACTION to STOP_WORK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+mn-lt"/>
              </a:rPr>
              <a:t>Stack: </a:t>
            </a:r>
            <a:r>
              <a:rPr lang="en-US" sz="2400" b="0" dirty="0">
                <a:solidFill>
                  <a:schemeClr val="tx1"/>
                </a:solidFill>
                <a:latin typeface="+mn-lt"/>
              </a:rPr>
              <a:t>Python 3.11, FastAPI, Streamlit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Multi-Agent PPE Compliance Monitoring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 / Milestones Progress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Multi-Agent PPE Compliance Monitoring</a:t>
            </a:r>
          </a:p>
          <a:p>
            <a:pPr algn="r"/>
            <a:endParaRPr lang="en-US" dirty="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255996" y="1330000"/>
          <a:ext cx="10600000" cy="3960000"/>
        </p:xfrm>
        <a:graphic>
          <a:graphicData uri="http://schemas.openxmlformats.org/drawingml/2006/table">
            <a:tbl>
              <a:tblPr firstRow="1" bandRow="1"/>
              <a:tblGrid>
                <a:gridCol w="1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Phase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Milestone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Review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1C4D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PPE detection &amp; compliance monitoring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/>
                          <a:cs typeface="Calibri"/>
                        </a:rPr>
                        <a:t>Completed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Dynamic worker simulation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/>
                          <a:cs typeface="Calibri"/>
                        </a:rPr>
                        <a:t>Completed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Event bus architecture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/>
                          <a:cs typeface="Calibri"/>
                        </a:rPr>
                        <a:t>Completed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Event-driven multi-agent framework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II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/>
                          <a:cs typeface="Calibri"/>
                        </a:rPr>
                        <a:t>Completed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Shared state &amp; agent memory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II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/>
                          <a:cs typeface="Calibri"/>
                        </a:rPr>
                        <a:t>Completed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RAG knowledge base (OSHA)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II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/>
                          <a:cs typeface="Calibri"/>
                        </a:rPr>
                        <a:t>Completed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Supervisor agent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II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/>
                          <a:cs typeface="Calibri"/>
                        </a:rPr>
                        <a:t>Completed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FastAPI integration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III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/>
                          <a:cs typeface="Calibri"/>
                        </a:rPr>
                        <a:t>Completed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Streamlit dashboard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III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/>
                          <a:cs typeface="Calibri"/>
                        </a:rPr>
                        <a:t>Completed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10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Real CCTV / video integration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III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C55A11"/>
                          </a:solidFill>
                          <a:latin typeface="Calibri"/>
                          <a:cs typeface="Calibri"/>
                        </a:rPr>
                        <a:t>Planned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3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Multi-Agent PPE Compliance Monitoring</a:t>
            </a:r>
          </a:p>
          <a:p>
            <a:pPr algn="r"/>
            <a:endParaRPr lang="en-US" dirty="0"/>
          </a:p>
        </p:txBody>
      </p:sp>
      <p:sp>
        <p:nvSpPr>
          <p:cNvPr id="6" name="Box 6"/>
          <p:cNvSpPr/>
          <p:nvPr/>
        </p:nvSpPr>
        <p:spPr>
          <a:xfrm>
            <a:off x="255996" y="1400000"/>
            <a:ext cx="1608333" cy="1050000"/>
          </a:xfrm>
          <a:prstGeom prst="roundRect">
            <a:avLst>
              <a:gd name="adj" fmla="val 10000"/>
            </a:avLst>
          </a:prstGeom>
          <a:solidFill>
            <a:srgbClr val="1C4D98"/>
          </a:solidFill>
          <a:ln>
            <a:noFill/>
          </a:ln>
        </p:spPr>
        <p:txBody>
          <a:bodyPr wrap="square" lIns="64008" tIns="36576" rIns="64008" bIns="36576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/>
                <a:cs typeface="Calibri"/>
              </a:rPr>
              <a:t>CCTV / Image</a:t>
            </a:r>
          </a:p>
          <a:p>
            <a:pPr algn="ctr"/>
            <a:r>
              <a:rPr lang="en-US" sz="1200" b="0" dirty="0">
                <a:solidFill>
                  <a:srgbClr val="FFFFFF"/>
                </a:solidFill>
                <a:latin typeface="Calibri"/>
                <a:cs typeface="Calibri"/>
              </a:rPr>
              <a:t>Video input</a:t>
            </a:r>
          </a:p>
        </p:txBody>
      </p:sp>
      <p:cxnSp>
        <p:nvCxnSpPr>
          <p:cNvPr id="7" name="Arrow 7"/>
          <p:cNvCxnSpPr/>
          <p:nvPr/>
        </p:nvCxnSpPr>
        <p:spPr>
          <a:xfrm>
            <a:off x="1894329" y="1925000"/>
            <a:ext cx="270000" cy="0"/>
          </a:xfrm>
          <a:prstGeom prst="straightConnector1">
            <a:avLst/>
          </a:prstGeom>
          <a:ln w="28575">
            <a:solidFill>
              <a:srgbClr val="1C4D98"/>
            </a:solidFill>
            <a:tailEnd type="triangle"/>
          </a:ln>
        </p:spPr>
      </p:cxnSp>
      <p:sp>
        <p:nvSpPr>
          <p:cNvPr id="8" name="Box 8"/>
          <p:cNvSpPr/>
          <p:nvPr/>
        </p:nvSpPr>
        <p:spPr>
          <a:xfrm>
            <a:off x="2194329" y="1400000"/>
            <a:ext cx="1608333" cy="1050000"/>
          </a:xfrm>
          <a:prstGeom prst="roundRect">
            <a:avLst>
              <a:gd name="adj" fmla="val 10000"/>
            </a:avLst>
          </a:prstGeom>
          <a:solidFill>
            <a:srgbClr val="1C4D98"/>
          </a:solidFill>
          <a:ln>
            <a:noFill/>
          </a:ln>
        </p:spPr>
        <p:txBody>
          <a:bodyPr wrap="square" lIns="64008" tIns="36576" rIns="64008" bIns="36576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/>
                <a:cs typeface="Calibri"/>
              </a:rPr>
              <a:t>Vision Agent</a:t>
            </a:r>
          </a:p>
          <a:p>
            <a:pPr algn="ctr"/>
            <a:r>
              <a:rPr lang="en-US" sz="1200" b="0" dirty="0">
                <a:solidFill>
                  <a:srgbClr val="FFFFFF"/>
                </a:solidFill>
                <a:latin typeface="Calibri"/>
                <a:cs typeface="Calibri"/>
              </a:rPr>
              <a:t>YOLO detection</a:t>
            </a:r>
          </a:p>
        </p:txBody>
      </p:sp>
      <p:cxnSp>
        <p:nvCxnSpPr>
          <p:cNvPr id="9" name="Arrow 9"/>
          <p:cNvCxnSpPr/>
          <p:nvPr/>
        </p:nvCxnSpPr>
        <p:spPr>
          <a:xfrm>
            <a:off x="3832662" y="1925000"/>
            <a:ext cx="270000" cy="0"/>
          </a:xfrm>
          <a:prstGeom prst="straightConnector1">
            <a:avLst/>
          </a:prstGeom>
          <a:ln w="28575">
            <a:solidFill>
              <a:srgbClr val="1C4D98"/>
            </a:solidFill>
            <a:tailEnd type="triangle"/>
          </a:ln>
        </p:spPr>
      </p:cxnSp>
      <p:sp>
        <p:nvSpPr>
          <p:cNvPr id="10" name="Box 10"/>
          <p:cNvSpPr/>
          <p:nvPr/>
        </p:nvSpPr>
        <p:spPr>
          <a:xfrm>
            <a:off x="4132662" y="1400000"/>
            <a:ext cx="1608333" cy="1050000"/>
          </a:xfrm>
          <a:prstGeom prst="roundRect">
            <a:avLst>
              <a:gd name="adj" fmla="val 10000"/>
            </a:avLst>
          </a:prstGeom>
          <a:solidFill>
            <a:srgbClr val="3793A6"/>
          </a:solidFill>
          <a:ln>
            <a:noFill/>
          </a:ln>
        </p:spPr>
        <p:txBody>
          <a:bodyPr wrap="square" lIns="64008" tIns="36576" rIns="64008" bIns="36576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/>
                <a:cs typeface="Calibri"/>
              </a:rPr>
              <a:t>Tracking Agent</a:t>
            </a:r>
          </a:p>
          <a:p>
            <a:pPr algn="ctr"/>
            <a:r>
              <a:rPr lang="en-US" sz="1200" b="0" dirty="0">
                <a:solidFill>
                  <a:srgbClr val="FFFFFF"/>
                </a:solidFill>
                <a:latin typeface="Calibri"/>
                <a:cs typeface="Calibri"/>
              </a:rPr>
              <a:t>Worker IDs</a:t>
            </a:r>
          </a:p>
        </p:txBody>
      </p:sp>
      <p:cxnSp>
        <p:nvCxnSpPr>
          <p:cNvPr id="11" name="Arrow 11"/>
          <p:cNvCxnSpPr/>
          <p:nvPr/>
        </p:nvCxnSpPr>
        <p:spPr>
          <a:xfrm>
            <a:off x="5770995" y="1925000"/>
            <a:ext cx="270000" cy="0"/>
          </a:xfrm>
          <a:prstGeom prst="straightConnector1">
            <a:avLst/>
          </a:prstGeom>
          <a:ln w="28575">
            <a:solidFill>
              <a:srgbClr val="1C4D98"/>
            </a:solidFill>
            <a:tailEnd type="triangle"/>
          </a:ln>
        </p:spPr>
      </p:cxnSp>
      <p:sp>
        <p:nvSpPr>
          <p:cNvPr id="12" name="Box 12"/>
          <p:cNvSpPr/>
          <p:nvPr/>
        </p:nvSpPr>
        <p:spPr>
          <a:xfrm>
            <a:off x="6070995" y="1400000"/>
            <a:ext cx="1608333" cy="1050000"/>
          </a:xfrm>
          <a:prstGeom prst="roundRect">
            <a:avLst>
              <a:gd name="adj" fmla="val 10000"/>
            </a:avLst>
          </a:prstGeom>
          <a:solidFill>
            <a:srgbClr val="3793A6"/>
          </a:solidFill>
          <a:ln>
            <a:noFill/>
          </a:ln>
        </p:spPr>
        <p:txBody>
          <a:bodyPr wrap="square" lIns="64008" tIns="36576" rIns="64008" bIns="36576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/>
                <a:cs typeface="Calibri"/>
              </a:rPr>
              <a:t>Compliance Agent</a:t>
            </a:r>
          </a:p>
          <a:p>
            <a:pPr algn="ctr"/>
            <a:r>
              <a:rPr lang="en-US" sz="1200" b="0" dirty="0">
                <a:solidFill>
                  <a:srgbClr val="FFFFFF"/>
                </a:solidFill>
                <a:latin typeface="Calibri"/>
                <a:cs typeface="Calibri"/>
              </a:rPr>
              <a:t>PPE violations</a:t>
            </a:r>
          </a:p>
        </p:txBody>
      </p:sp>
      <p:cxnSp>
        <p:nvCxnSpPr>
          <p:cNvPr id="13" name="Arrow 13"/>
          <p:cNvCxnSpPr/>
          <p:nvPr/>
        </p:nvCxnSpPr>
        <p:spPr>
          <a:xfrm>
            <a:off x="7709328" y="1925000"/>
            <a:ext cx="270000" cy="0"/>
          </a:xfrm>
          <a:prstGeom prst="straightConnector1">
            <a:avLst/>
          </a:prstGeom>
          <a:ln w="28575">
            <a:solidFill>
              <a:srgbClr val="1C4D98"/>
            </a:solidFill>
            <a:tailEnd type="triangle"/>
          </a:ln>
        </p:spPr>
      </p:cxnSp>
      <p:sp>
        <p:nvSpPr>
          <p:cNvPr id="14" name="Box 14"/>
          <p:cNvSpPr/>
          <p:nvPr/>
        </p:nvSpPr>
        <p:spPr>
          <a:xfrm>
            <a:off x="8009328" y="1400000"/>
            <a:ext cx="1608333" cy="1050000"/>
          </a:xfrm>
          <a:prstGeom prst="roundRect">
            <a:avLst>
              <a:gd name="adj" fmla="val 10000"/>
            </a:avLst>
          </a:prstGeom>
          <a:solidFill>
            <a:srgbClr val="3793A6"/>
          </a:solidFill>
          <a:ln>
            <a:noFill/>
          </a:ln>
        </p:spPr>
        <p:txBody>
          <a:bodyPr wrap="square" lIns="64008" tIns="36576" rIns="64008" bIns="36576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/>
                <a:cs typeface="Calibri"/>
              </a:rPr>
              <a:t>Risk Agent</a:t>
            </a:r>
          </a:p>
          <a:p>
            <a:pPr algn="ctr"/>
            <a:r>
              <a:rPr lang="en-US" sz="1200" b="0" dirty="0">
                <a:solidFill>
                  <a:srgbClr val="FFFFFF"/>
                </a:solidFill>
                <a:latin typeface="Calibri"/>
                <a:cs typeface="Calibri"/>
              </a:rPr>
              <a:t>LOW / MEDIUM / HIGH</a:t>
            </a:r>
          </a:p>
        </p:txBody>
      </p:sp>
      <p:cxnSp>
        <p:nvCxnSpPr>
          <p:cNvPr id="15" name="Arrow 15"/>
          <p:cNvCxnSpPr/>
          <p:nvPr/>
        </p:nvCxnSpPr>
        <p:spPr>
          <a:xfrm>
            <a:off x="9647661" y="1925000"/>
            <a:ext cx="270000" cy="0"/>
          </a:xfrm>
          <a:prstGeom prst="straightConnector1">
            <a:avLst/>
          </a:prstGeom>
          <a:ln w="28575">
            <a:solidFill>
              <a:srgbClr val="1C4D98"/>
            </a:solidFill>
            <a:tailEnd type="triangle"/>
          </a:ln>
        </p:spPr>
      </p:cxnSp>
      <p:sp>
        <p:nvSpPr>
          <p:cNvPr id="16" name="Box 16"/>
          <p:cNvSpPr/>
          <p:nvPr/>
        </p:nvSpPr>
        <p:spPr>
          <a:xfrm>
            <a:off x="9947661" y="1400000"/>
            <a:ext cx="1608333" cy="1050000"/>
          </a:xfrm>
          <a:prstGeom prst="roundRect">
            <a:avLst>
              <a:gd name="adj" fmla="val 10000"/>
            </a:avLst>
          </a:prstGeom>
          <a:solidFill>
            <a:srgbClr val="3793A6"/>
          </a:solidFill>
          <a:ln>
            <a:noFill/>
          </a:ln>
        </p:spPr>
        <p:txBody>
          <a:bodyPr wrap="square" lIns="64008" tIns="36576" rIns="64008" bIns="36576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/>
                <a:cs typeface="Calibri"/>
              </a:rPr>
              <a:t>RCA Agent</a:t>
            </a:r>
          </a:p>
          <a:p>
            <a:pPr algn="ctr"/>
            <a:r>
              <a:rPr lang="en-US" sz="1200" b="0" dirty="0">
                <a:solidFill>
                  <a:srgbClr val="FFFFFF"/>
                </a:solidFill>
                <a:latin typeface="Calibri"/>
                <a:cs typeface="Calibri"/>
              </a:rPr>
              <a:t>Root causes</a:t>
            </a:r>
          </a:p>
        </p:txBody>
      </p:sp>
      <p:sp>
        <p:nvSpPr>
          <p:cNvPr id="17" name="Box 17"/>
          <p:cNvSpPr/>
          <p:nvPr/>
        </p:nvSpPr>
        <p:spPr>
          <a:xfrm>
            <a:off x="9947661" y="3000000"/>
            <a:ext cx="1608333" cy="1050000"/>
          </a:xfrm>
          <a:prstGeom prst="roundRect">
            <a:avLst>
              <a:gd name="adj" fmla="val 10000"/>
            </a:avLst>
          </a:prstGeom>
          <a:solidFill>
            <a:srgbClr val="3793A6"/>
          </a:solidFill>
          <a:ln>
            <a:noFill/>
          </a:ln>
        </p:spPr>
        <p:txBody>
          <a:bodyPr wrap="square" lIns="64008" tIns="36576" rIns="64008" bIns="36576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/>
                <a:cs typeface="Calibri"/>
              </a:rPr>
              <a:t>Recommendation Agent</a:t>
            </a:r>
          </a:p>
          <a:p>
            <a:pPr algn="ctr"/>
            <a:r>
              <a:rPr lang="en-US" sz="1200" b="0" dirty="0">
                <a:solidFill>
                  <a:srgbClr val="FFFFFF"/>
                </a:solidFill>
                <a:latin typeface="Calibri"/>
                <a:cs typeface="Calibri"/>
              </a:rPr>
              <a:t>Safety actions</a:t>
            </a:r>
          </a:p>
        </p:txBody>
      </p:sp>
      <p:cxnSp>
        <p:nvCxnSpPr>
          <p:cNvPr id="18" name="Arrow 18"/>
          <p:cNvCxnSpPr/>
          <p:nvPr/>
        </p:nvCxnSpPr>
        <p:spPr>
          <a:xfrm flipH="1">
            <a:off x="9647661" y="3525000"/>
            <a:ext cx="270000" cy="0"/>
          </a:xfrm>
          <a:prstGeom prst="straightConnector1">
            <a:avLst/>
          </a:prstGeom>
          <a:ln w="28575">
            <a:solidFill>
              <a:srgbClr val="1C4D98"/>
            </a:solidFill>
            <a:tailEnd type="triangle"/>
          </a:ln>
        </p:spPr>
      </p:cxnSp>
      <p:sp>
        <p:nvSpPr>
          <p:cNvPr id="19" name="Box 19"/>
          <p:cNvSpPr/>
          <p:nvPr/>
        </p:nvSpPr>
        <p:spPr>
          <a:xfrm>
            <a:off x="8009328" y="3000000"/>
            <a:ext cx="1608333" cy="1050000"/>
          </a:xfrm>
          <a:prstGeom prst="roundRect">
            <a:avLst>
              <a:gd name="adj" fmla="val 10000"/>
            </a:avLst>
          </a:prstGeom>
          <a:solidFill>
            <a:srgbClr val="3793A6"/>
          </a:solidFill>
          <a:ln>
            <a:noFill/>
          </a:ln>
        </p:spPr>
        <p:txBody>
          <a:bodyPr wrap="square" lIns="64008" tIns="36576" rIns="64008" bIns="36576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/>
                <a:cs typeface="Calibri"/>
              </a:rPr>
              <a:t>Alert Agent</a:t>
            </a:r>
          </a:p>
          <a:p>
            <a:pPr algn="ctr"/>
            <a:r>
              <a:rPr lang="en-US" sz="1200" b="0" dirty="0">
                <a:solidFill>
                  <a:srgbClr val="FFFFFF"/>
                </a:solidFill>
                <a:latin typeface="Calibri"/>
                <a:cs typeface="Calibri"/>
              </a:rPr>
              <a:t>Alerts</a:t>
            </a:r>
          </a:p>
        </p:txBody>
      </p:sp>
      <p:cxnSp>
        <p:nvCxnSpPr>
          <p:cNvPr id="20" name="Arrow 20"/>
          <p:cNvCxnSpPr/>
          <p:nvPr/>
        </p:nvCxnSpPr>
        <p:spPr>
          <a:xfrm flipH="1">
            <a:off x="7709328" y="3525000"/>
            <a:ext cx="270000" cy="0"/>
          </a:xfrm>
          <a:prstGeom prst="straightConnector1">
            <a:avLst/>
          </a:prstGeom>
          <a:ln w="28575">
            <a:solidFill>
              <a:srgbClr val="1C4D98"/>
            </a:solidFill>
            <a:tailEnd type="triangle"/>
          </a:ln>
        </p:spPr>
      </p:cxnSp>
      <p:sp>
        <p:nvSpPr>
          <p:cNvPr id="21" name="Box 21"/>
          <p:cNvSpPr/>
          <p:nvPr/>
        </p:nvSpPr>
        <p:spPr>
          <a:xfrm>
            <a:off x="6070995" y="3000000"/>
            <a:ext cx="1608333" cy="1050000"/>
          </a:xfrm>
          <a:prstGeom prst="roundRect">
            <a:avLst>
              <a:gd name="adj" fmla="val 10000"/>
            </a:avLst>
          </a:prstGeom>
          <a:solidFill>
            <a:srgbClr val="3793A6"/>
          </a:solidFill>
          <a:ln>
            <a:noFill/>
          </a:ln>
        </p:spPr>
        <p:txBody>
          <a:bodyPr wrap="square" lIns="64008" tIns="36576" rIns="64008" bIns="36576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/>
                <a:cs typeface="Calibri"/>
              </a:rPr>
              <a:t>Memory Agent</a:t>
            </a:r>
          </a:p>
          <a:p>
            <a:pPr algn="ctr"/>
            <a:r>
              <a:rPr lang="en-US" sz="1200" b="0" dirty="0">
                <a:solidFill>
                  <a:srgbClr val="FFFFFF"/>
                </a:solidFill>
                <a:latin typeface="Calibri"/>
                <a:cs typeface="Calibri"/>
              </a:rPr>
              <a:t>History &amp; state</a:t>
            </a:r>
          </a:p>
        </p:txBody>
      </p:sp>
      <p:cxnSp>
        <p:nvCxnSpPr>
          <p:cNvPr id="22" name="Arrow 22"/>
          <p:cNvCxnSpPr/>
          <p:nvPr/>
        </p:nvCxnSpPr>
        <p:spPr>
          <a:xfrm flipH="1">
            <a:off x="5770995" y="3525000"/>
            <a:ext cx="270000" cy="0"/>
          </a:xfrm>
          <a:prstGeom prst="straightConnector1">
            <a:avLst/>
          </a:prstGeom>
          <a:ln w="28575">
            <a:solidFill>
              <a:srgbClr val="1C4D98"/>
            </a:solidFill>
            <a:tailEnd type="triangle"/>
          </a:ln>
        </p:spPr>
      </p:cxnSp>
      <p:sp>
        <p:nvSpPr>
          <p:cNvPr id="23" name="Box 23"/>
          <p:cNvSpPr/>
          <p:nvPr/>
        </p:nvSpPr>
        <p:spPr>
          <a:xfrm>
            <a:off x="4132662" y="3000000"/>
            <a:ext cx="1608333" cy="1050000"/>
          </a:xfrm>
          <a:prstGeom prst="roundRect">
            <a:avLst>
              <a:gd name="adj" fmla="val 10000"/>
            </a:avLst>
          </a:prstGeom>
          <a:solidFill>
            <a:srgbClr val="3793A6"/>
          </a:solidFill>
          <a:ln>
            <a:noFill/>
          </a:ln>
        </p:spPr>
        <p:txBody>
          <a:bodyPr wrap="square" lIns="64008" tIns="36576" rIns="64008" bIns="36576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/>
                <a:cs typeface="Calibri"/>
              </a:rPr>
              <a:t>Supervisor Agent</a:t>
            </a:r>
          </a:p>
          <a:p>
            <a:pPr algn="ctr"/>
            <a:r>
              <a:rPr lang="en-US" sz="1200" b="0" dirty="0">
                <a:solidFill>
                  <a:srgbClr val="FFFFFF"/>
                </a:solidFill>
                <a:latin typeface="Calibri"/>
                <a:cs typeface="Calibri"/>
              </a:rPr>
              <a:t>Decisions</a:t>
            </a:r>
          </a:p>
        </p:txBody>
      </p:sp>
      <p:cxnSp>
        <p:nvCxnSpPr>
          <p:cNvPr id="24" name="Arrow 24"/>
          <p:cNvCxnSpPr/>
          <p:nvPr/>
        </p:nvCxnSpPr>
        <p:spPr>
          <a:xfrm flipH="1">
            <a:off x="3832662" y="3525000"/>
            <a:ext cx="270000" cy="0"/>
          </a:xfrm>
          <a:prstGeom prst="straightConnector1">
            <a:avLst/>
          </a:prstGeom>
          <a:ln w="28575">
            <a:solidFill>
              <a:srgbClr val="1C4D98"/>
            </a:solidFill>
            <a:tailEnd type="triangle"/>
          </a:ln>
        </p:spPr>
      </p:cxnSp>
      <p:sp>
        <p:nvSpPr>
          <p:cNvPr id="25" name="Box 25"/>
          <p:cNvSpPr/>
          <p:nvPr/>
        </p:nvSpPr>
        <p:spPr>
          <a:xfrm>
            <a:off x="2194329" y="3000000"/>
            <a:ext cx="1608333" cy="1050000"/>
          </a:xfrm>
          <a:prstGeom prst="roundRect">
            <a:avLst>
              <a:gd name="adj" fmla="val 10000"/>
            </a:avLst>
          </a:prstGeom>
          <a:solidFill>
            <a:srgbClr val="1C4D98"/>
          </a:solidFill>
          <a:ln>
            <a:noFill/>
          </a:ln>
        </p:spPr>
        <p:txBody>
          <a:bodyPr wrap="square" lIns="64008" tIns="36576" rIns="64008" bIns="36576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/>
                <a:cs typeface="Calibri"/>
              </a:rPr>
              <a:t>Dashboard + API</a:t>
            </a:r>
          </a:p>
          <a:p>
            <a:pPr algn="ctr"/>
            <a:r>
              <a:rPr lang="en-US" sz="1200" b="0" dirty="0">
                <a:solidFill>
                  <a:srgbClr val="FFFFFF"/>
                </a:solidFill>
                <a:latin typeface="Calibri"/>
                <a:cs typeface="Calibri"/>
              </a:rPr>
              <a:t>Reports</a:t>
            </a:r>
          </a:p>
        </p:txBody>
      </p:sp>
      <p:cxnSp>
        <p:nvCxnSpPr>
          <p:cNvPr id="26" name="Arrow 26"/>
          <p:cNvCxnSpPr/>
          <p:nvPr/>
        </p:nvCxnSpPr>
        <p:spPr>
          <a:xfrm>
            <a:off x="10751827" y="2480000"/>
            <a:ext cx="0" cy="490000"/>
          </a:xfrm>
          <a:prstGeom prst="straightConnector1">
            <a:avLst/>
          </a:prstGeom>
          <a:ln w="28575">
            <a:solidFill>
              <a:srgbClr val="1C4D98"/>
            </a:solidFill>
            <a:tailEnd type="triangle"/>
          </a:ln>
        </p:spPr>
      </p:cxnSp>
      <p:sp>
        <p:nvSpPr>
          <p:cNvPr id="27" name="Box 27"/>
          <p:cNvSpPr/>
          <p:nvPr/>
        </p:nvSpPr>
        <p:spPr>
          <a:xfrm>
            <a:off x="255996" y="4450000"/>
            <a:ext cx="11300000" cy="620000"/>
          </a:xfrm>
          <a:prstGeom prst="roundRect">
            <a:avLst>
              <a:gd name="adj" fmla="val 10000"/>
            </a:avLst>
          </a:prstGeom>
          <a:solidFill>
            <a:srgbClr val="EAF3FB"/>
          </a:solidFill>
          <a:ln w="19050">
            <a:solidFill>
              <a:srgbClr val="3793A6"/>
            </a:solidFill>
          </a:ln>
        </p:spPr>
        <p:txBody>
          <a:bodyPr wrap="square" lIns="64008" tIns="36576" rIns="64008" bIns="36576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1C3898"/>
                </a:solidFill>
                <a:latin typeface="Calibri"/>
                <a:cs typeface="Calibri"/>
              </a:rPr>
              <a:t>Event Bus – agents publish and subscribe to events instead of calling each other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773</Words>
  <Application>Microsoft Office PowerPoint</Application>
  <PresentationFormat>Widescreen</PresentationFormat>
  <Paragraphs>156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Vishwa M</cp:lastModifiedBy>
  <cp:revision>15</cp:revision>
  <dcterms:created xsi:type="dcterms:W3CDTF">2024-05-13T10:33:11Z</dcterms:created>
  <dcterms:modified xsi:type="dcterms:W3CDTF">2026-10-01T04:10:18Z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